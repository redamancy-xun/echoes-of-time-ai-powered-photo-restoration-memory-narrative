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78" r:id="rId10"/>
    <p:sldId id="279" r:id="rId11"/>
    <p:sldId id="287" r:id="rId12"/>
    <p:sldId id="262" r:id="rId13"/>
    <p:sldId id="263" r:id="rId14"/>
    <p:sldId id="276" r:id="rId15"/>
    <p:sldId id="265" r:id="rId16"/>
    <p:sldId id="280" r:id="rId17"/>
    <p:sldId id="281" r:id="rId18"/>
    <p:sldId id="282" r:id="rId19"/>
    <p:sldId id="283" r:id="rId20"/>
    <p:sldId id="266" r:id="rId21"/>
    <p:sldId id="267" r:id="rId22"/>
    <p:sldId id="284" r:id="rId23"/>
    <p:sldId id="285" r:id="rId24"/>
    <p:sldId id="286" r:id="rId25"/>
    <p:sldId id="268" r:id="rId26"/>
    <p:sldId id="272" r:id="rId27"/>
    <p:sldId id="273" r:id="rId28"/>
    <p:sldId id="275" r:id="rId29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3" Type="http://schemas.openxmlformats.org/officeDocument/2006/relationships/notesSlide" Target="../notesSlides/notesSlide2.xml"/><Relationship Id="rId12" Type="http://schemas.openxmlformats.org/officeDocument/2006/relationships/slideLayout" Target="../slideLayouts/slideLayout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6.xml"/><Relationship Id="rId8" Type="http://schemas.openxmlformats.org/officeDocument/2006/relationships/tags" Target="../tags/tag15.xml"/><Relationship Id="rId7" Type="http://schemas.openxmlformats.org/officeDocument/2006/relationships/image" Target="../media/image5.png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image" Target="../media/image4.png"/><Relationship Id="rId2" Type="http://schemas.openxmlformats.org/officeDocument/2006/relationships/tags" Target="../tags/tag11.xml"/><Relationship Id="rId19" Type="http://schemas.openxmlformats.org/officeDocument/2006/relationships/notesSlide" Target="../notesSlides/notesSlide4.xml"/><Relationship Id="rId18" Type="http://schemas.openxmlformats.org/officeDocument/2006/relationships/slideLayout" Target="../slideLayouts/slideLayout1.xml"/><Relationship Id="rId17" Type="http://schemas.openxmlformats.org/officeDocument/2006/relationships/tags" Target="../tags/tag22.xml"/><Relationship Id="rId16" Type="http://schemas.openxmlformats.org/officeDocument/2006/relationships/tags" Target="../tags/tag21.xml"/><Relationship Id="rId15" Type="http://schemas.openxmlformats.org/officeDocument/2006/relationships/image" Target="../media/image7.png"/><Relationship Id="rId14" Type="http://schemas.openxmlformats.org/officeDocument/2006/relationships/tags" Target="../tags/tag20.xml"/><Relationship Id="rId13" Type="http://schemas.openxmlformats.org/officeDocument/2006/relationships/tags" Target="../tags/tag19.xml"/><Relationship Id="rId12" Type="http://schemas.openxmlformats.org/officeDocument/2006/relationships/tags" Target="../tags/tag18.xml"/><Relationship Id="rId11" Type="http://schemas.openxmlformats.org/officeDocument/2006/relationships/image" Target="../media/image6.png"/><Relationship Id="rId10" Type="http://schemas.openxmlformats.org/officeDocument/2006/relationships/tags" Target="../tags/tag17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28.xml"/><Relationship Id="rId8" Type="http://schemas.openxmlformats.org/officeDocument/2006/relationships/tags" Target="../tags/tag27.xml"/><Relationship Id="rId7" Type="http://schemas.openxmlformats.org/officeDocument/2006/relationships/image" Target="../media/image9.png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image" Target="../media/image8.png"/><Relationship Id="rId2" Type="http://schemas.openxmlformats.org/officeDocument/2006/relationships/tags" Target="../tags/tag23.xml"/><Relationship Id="rId15" Type="http://schemas.openxmlformats.org/officeDocument/2006/relationships/notesSlide" Target="../notesSlides/notesSlide5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31.xml"/><Relationship Id="rId12" Type="http://schemas.openxmlformats.org/officeDocument/2006/relationships/tags" Target="../tags/tag30.xml"/><Relationship Id="rId11" Type="http://schemas.openxmlformats.org/officeDocument/2006/relationships/image" Target="../media/image10.png"/><Relationship Id="rId10" Type="http://schemas.openxmlformats.org/officeDocument/2006/relationships/tags" Target="../tags/tag29.xml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tags" Target="../tags/tag32.xml"/><Relationship Id="rId1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image" Target="../media/image3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2.jpeg"/><Relationship Id="rId1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tags" Target="../tags/tag41.xml"/><Relationship Id="rId8" Type="http://schemas.openxmlformats.org/officeDocument/2006/relationships/image" Target="../media/image29.png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image" Target="../media/image28.png"/><Relationship Id="rId4" Type="http://schemas.openxmlformats.org/officeDocument/2006/relationships/tags" Target="../tags/tag38.xml"/><Relationship Id="rId3" Type="http://schemas.openxmlformats.org/officeDocument/2006/relationships/tags" Target="../tags/tag37.xml"/><Relationship Id="rId2" Type="http://schemas.openxmlformats.org/officeDocument/2006/relationships/image" Target="../media/image27.png"/><Relationship Id="rId14" Type="http://schemas.openxmlformats.org/officeDocument/2006/relationships/notesSlide" Target="../notesSlides/notesSlide12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44.xml"/><Relationship Id="rId11" Type="http://schemas.openxmlformats.org/officeDocument/2006/relationships/tags" Target="../tags/tag43.xml"/><Relationship Id="rId10" Type="http://schemas.openxmlformats.org/officeDocument/2006/relationships/tags" Target="../tags/tag42.xml"/><Relationship Id="rId1" Type="http://schemas.openxmlformats.org/officeDocument/2006/relationships/image" Target="../media/image26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tags" Target="../tags/tag50.xml"/><Relationship Id="rId8" Type="http://schemas.openxmlformats.org/officeDocument/2006/relationships/tags" Target="../tags/tag49.xml"/><Relationship Id="rId7" Type="http://schemas.openxmlformats.org/officeDocument/2006/relationships/image" Target="../media/image31.png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Relationship Id="rId3" Type="http://schemas.openxmlformats.org/officeDocument/2006/relationships/image" Target="../media/image30.png"/><Relationship Id="rId2" Type="http://schemas.openxmlformats.org/officeDocument/2006/relationships/tags" Target="../tags/tag45.xml"/><Relationship Id="rId15" Type="http://schemas.openxmlformats.org/officeDocument/2006/relationships/notesSlide" Target="../notesSlides/notesSlide14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53.xml"/><Relationship Id="rId12" Type="http://schemas.openxmlformats.org/officeDocument/2006/relationships/tags" Target="../tags/tag52.xml"/><Relationship Id="rId11" Type="http://schemas.openxmlformats.org/officeDocument/2006/relationships/image" Target="../media/image32.png"/><Relationship Id="rId10" Type="http://schemas.openxmlformats.org/officeDocument/2006/relationships/tags" Target="../tags/tag51.xml"/><Relationship Id="rId1" Type="http://schemas.openxmlformats.org/officeDocument/2006/relationships/image" Target="../media/image3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2135" y="1003300"/>
            <a:ext cx="7264400" cy="156908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光影溯洄 - 基于GFPGAN的照片修复与故事重现</a:t>
            </a:r>
            <a:endParaRPr lang="en-US" sz="375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571500" y="2976563"/>
            <a:ext cx="604838" cy="1143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6" name="Text 3"/>
          <p:cNvSpPr/>
          <p:nvPr/>
        </p:nvSpPr>
        <p:spPr>
          <a:xfrm>
            <a:off x="571500" y="3424238"/>
            <a:ext cx="8001000" cy="2190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725"/>
              </a:lnSpc>
              <a:buNone/>
            </a:pPr>
            <a:r>
              <a:rPr lang="zh-CN" altLang="en-US" sz="1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小组成员：叶晓良、黄禹</a:t>
            </a:r>
            <a:r>
              <a:rPr lang="zh-CN" altLang="en-US" sz="1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尧</a:t>
            </a:r>
            <a:endParaRPr lang="zh-CN" altLang="en-US" sz="1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295275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48310" y="267018"/>
            <a:ext cx="1857375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content</a:t>
            </a:r>
            <a:endParaRPr lang="en-US" sz="3750" dirty="0"/>
          </a:p>
        </p:txBody>
      </p:sp>
      <p:sp>
        <p:nvSpPr>
          <p:cNvPr id="5" name="Text 2"/>
          <p:cNvSpPr/>
          <p:nvPr/>
        </p:nvSpPr>
        <p:spPr>
          <a:xfrm>
            <a:off x="571500" y="4176713"/>
            <a:ext cx="180975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目录</a:t>
            </a:r>
            <a:endParaRPr lang="en-US" sz="2250" dirty="0"/>
          </a:p>
        </p:txBody>
      </p:sp>
      <p:sp>
        <p:nvSpPr>
          <p:cNvPr id="6" name="Text 3"/>
          <p:cNvSpPr/>
          <p:nvPr>
            <p:custDataLst>
              <p:tags r:id="rId2"/>
            </p:custDataLst>
          </p:nvPr>
        </p:nvSpPr>
        <p:spPr>
          <a:xfrm>
            <a:off x="3915410" y="873919"/>
            <a:ext cx="352425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40"/>
              </a:lnSpc>
              <a:buNone/>
            </a:pPr>
            <a:r>
              <a:rPr lang="en-US" sz="1875" b="1" dirty="0">
                <a:solidFill>
                  <a:srgbClr val="84C1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875" dirty="0"/>
          </a:p>
        </p:txBody>
      </p:sp>
      <p:sp>
        <p:nvSpPr>
          <p:cNvPr id="7" name="Text 4"/>
          <p:cNvSpPr/>
          <p:nvPr>
            <p:custDataLst>
              <p:tags r:id="rId3"/>
            </p:custDataLst>
          </p:nvPr>
        </p:nvSpPr>
        <p:spPr>
          <a:xfrm>
            <a:off x="4488180" y="1087596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24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项目概述</a:t>
            </a:r>
            <a:endParaRPr lang="en-US" sz="2400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8" name="Text 5"/>
          <p:cNvSpPr/>
          <p:nvPr/>
        </p:nvSpPr>
        <p:spPr>
          <a:xfrm>
            <a:off x="4488180" y="1335246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9" name="Text 6"/>
          <p:cNvSpPr/>
          <p:nvPr>
            <p:custDataLst>
              <p:tags r:id="rId4"/>
            </p:custDataLst>
          </p:nvPr>
        </p:nvSpPr>
        <p:spPr>
          <a:xfrm>
            <a:off x="3915410" y="1587659"/>
            <a:ext cx="352425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40"/>
              </a:lnSpc>
              <a:buNone/>
            </a:pPr>
            <a:r>
              <a:rPr lang="en-US" sz="1875" b="1" dirty="0">
                <a:solidFill>
                  <a:srgbClr val="84C1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875" dirty="0"/>
          </a:p>
        </p:txBody>
      </p:sp>
      <p:sp>
        <p:nvSpPr>
          <p:cNvPr id="10" name="Text 7"/>
          <p:cNvSpPr/>
          <p:nvPr>
            <p:custDataLst>
              <p:tags r:id="rId5"/>
            </p:custDataLst>
          </p:nvPr>
        </p:nvSpPr>
        <p:spPr>
          <a:xfrm>
            <a:off x="4488815" y="1778476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24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功能展示</a:t>
            </a:r>
            <a:endParaRPr lang="en-US" sz="2400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488180" y="1963896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12" name="Text 9"/>
          <p:cNvSpPr/>
          <p:nvPr>
            <p:custDataLst>
              <p:tags r:id="rId6"/>
            </p:custDataLst>
          </p:nvPr>
        </p:nvSpPr>
        <p:spPr>
          <a:xfrm>
            <a:off x="3915410" y="2301399"/>
            <a:ext cx="352425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40"/>
              </a:lnSpc>
              <a:buNone/>
            </a:pPr>
            <a:r>
              <a:rPr lang="en-US" sz="1875" b="1" dirty="0">
                <a:solidFill>
                  <a:srgbClr val="84C1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875" dirty="0"/>
          </a:p>
        </p:txBody>
      </p:sp>
      <p:sp>
        <p:nvSpPr>
          <p:cNvPr id="13" name="Text 10"/>
          <p:cNvSpPr/>
          <p:nvPr>
            <p:custDataLst>
              <p:tags r:id="rId7"/>
            </p:custDataLst>
          </p:nvPr>
        </p:nvSpPr>
        <p:spPr>
          <a:xfrm>
            <a:off x="4489450" y="2469356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24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技术原理</a:t>
            </a:r>
            <a:endParaRPr lang="en-US" sz="2400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4488180" y="2592546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15" name="Text 12"/>
          <p:cNvSpPr/>
          <p:nvPr>
            <p:custDataLst>
              <p:tags r:id="rId8"/>
            </p:custDataLst>
          </p:nvPr>
        </p:nvSpPr>
        <p:spPr>
          <a:xfrm>
            <a:off x="3915410" y="3015139"/>
            <a:ext cx="352425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40"/>
              </a:lnSpc>
              <a:buNone/>
            </a:pPr>
            <a:r>
              <a:rPr lang="en-US" sz="1875" b="1" dirty="0">
                <a:solidFill>
                  <a:srgbClr val="84C1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875" dirty="0"/>
          </a:p>
        </p:txBody>
      </p:sp>
      <p:sp>
        <p:nvSpPr>
          <p:cNvPr id="16" name="Text 13"/>
          <p:cNvSpPr/>
          <p:nvPr>
            <p:custDataLst>
              <p:tags r:id="rId9"/>
            </p:custDataLst>
          </p:nvPr>
        </p:nvSpPr>
        <p:spPr>
          <a:xfrm>
            <a:off x="4490085" y="3160236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24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技术特色与创新点</a:t>
            </a:r>
            <a:endParaRPr lang="en-US" sz="2400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4488180" y="3221196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18" name="Text 15"/>
          <p:cNvSpPr/>
          <p:nvPr>
            <p:custDataLst>
              <p:tags r:id="rId10"/>
            </p:custDataLst>
          </p:nvPr>
        </p:nvSpPr>
        <p:spPr>
          <a:xfrm>
            <a:off x="3915410" y="3728879"/>
            <a:ext cx="352425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40"/>
              </a:lnSpc>
              <a:buNone/>
            </a:pPr>
            <a:r>
              <a:rPr lang="en-US" sz="1875" b="1" dirty="0">
                <a:solidFill>
                  <a:srgbClr val="84C1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1875" dirty="0"/>
          </a:p>
        </p:txBody>
      </p:sp>
      <p:sp>
        <p:nvSpPr>
          <p:cNvPr id="19" name="Text 16"/>
          <p:cNvSpPr/>
          <p:nvPr>
            <p:custDataLst>
              <p:tags r:id="rId11"/>
            </p:custDataLst>
          </p:nvPr>
        </p:nvSpPr>
        <p:spPr>
          <a:xfrm>
            <a:off x="4488180" y="3919061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24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总结与展望</a:t>
            </a:r>
            <a:endParaRPr lang="en-US" sz="2400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4490720" y="3851116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314700"/>
            <a:ext cx="47625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项目概述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FFFFFF">
              <a:alpha val="30000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FFFFFF">
                    <a:alpha val="7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22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0104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13315" r="13315"/>
          <a:stretch>
            <a:fillRect/>
          </a:stretch>
        </p:blipFill>
        <p:spPr>
          <a:xfrm>
            <a:off x="0" y="0"/>
            <a:ext cx="9144000" cy="70104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285750"/>
            <a:ext cx="40386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项目简介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571500" y="742950"/>
            <a:ext cx="40386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7" name="Image 2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/>
          <a:stretch>
            <a:fillRect/>
          </a:stretch>
        </p:blipFill>
        <p:spPr>
          <a:xfrm>
            <a:off x="289560" y="1162050"/>
            <a:ext cx="4400550" cy="1511300"/>
          </a:xfrm>
          <a:prstGeom prst="rect">
            <a:avLst/>
          </a:prstGeom>
        </p:spPr>
      </p:pic>
      <p:sp>
        <p:nvSpPr>
          <p:cNvPr id="8" name="Text 3"/>
          <p:cNvSpPr/>
          <p:nvPr>
            <p:custDataLst>
              <p:tags r:id="rId4"/>
            </p:custDataLst>
          </p:nvPr>
        </p:nvSpPr>
        <p:spPr>
          <a:xfrm>
            <a:off x="1800225" y="1369219"/>
            <a:ext cx="25050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90"/>
              </a:lnSpc>
              <a:buNone/>
            </a:pPr>
            <a:r>
              <a:rPr lang="en-US" sz="16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创新平台</a:t>
            </a:r>
            <a:endParaRPr lang="en-US" sz="1600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9" name="Text 4"/>
          <p:cNvSpPr/>
          <p:nvPr>
            <p:custDataLst>
              <p:tags r:id="rId5"/>
            </p:custDataLst>
          </p:nvPr>
        </p:nvSpPr>
        <p:spPr>
          <a:xfrm>
            <a:off x="1800225" y="1782286"/>
            <a:ext cx="2505075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光影溯洄，融合AI技术与情感回忆，让老照片焕发新生，挖掘并分享照片故事，创造独特情感体验。</a:t>
            </a:r>
            <a:endParaRPr lang="en-US" sz="14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/>
          <a:stretch>
            <a:fillRect/>
          </a:stretch>
        </p:blipFill>
        <p:spPr>
          <a:xfrm>
            <a:off x="4394835" y="1162050"/>
            <a:ext cx="4400550" cy="1511300"/>
          </a:xfrm>
          <a:prstGeom prst="rect">
            <a:avLst/>
          </a:prstGeom>
        </p:spPr>
      </p:pic>
      <p:sp>
        <p:nvSpPr>
          <p:cNvPr id="11" name="Text 5"/>
          <p:cNvSpPr/>
          <p:nvPr>
            <p:custDataLst>
              <p:tags r:id="rId8"/>
            </p:custDataLst>
          </p:nvPr>
        </p:nvSpPr>
        <p:spPr>
          <a:xfrm>
            <a:off x="5905500" y="1369219"/>
            <a:ext cx="25050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90"/>
              </a:lnSpc>
              <a:buNone/>
            </a:pPr>
            <a:r>
              <a:rPr lang="en-US" sz="16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技术融合</a:t>
            </a:r>
            <a:endParaRPr lang="en-US" sz="1600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2" name="Text 6"/>
          <p:cNvSpPr/>
          <p:nvPr>
            <p:custDataLst>
              <p:tags r:id="rId9"/>
            </p:custDataLst>
          </p:nvPr>
        </p:nvSpPr>
        <p:spPr>
          <a:xfrm>
            <a:off x="5905500" y="1782286"/>
            <a:ext cx="2505075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运用先进图像处理与AI技术，修复老照片，保留历史韵味，生成丰富故事内容，促进情感分享与传承。</a:t>
            </a:r>
            <a:endParaRPr lang="en-US" sz="14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pic>
        <p:nvPicPr>
          <p:cNvPr id="13" name="Image 4" descr="preencoded.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rcRect/>
          <a:stretch>
            <a:fillRect/>
          </a:stretch>
        </p:blipFill>
        <p:spPr>
          <a:xfrm>
            <a:off x="289560" y="3048000"/>
            <a:ext cx="4400550" cy="1511300"/>
          </a:xfrm>
          <a:prstGeom prst="rect">
            <a:avLst/>
          </a:prstGeom>
        </p:spPr>
      </p:pic>
      <p:sp>
        <p:nvSpPr>
          <p:cNvPr id="14" name="Text 7"/>
          <p:cNvSpPr/>
          <p:nvPr>
            <p:custDataLst>
              <p:tags r:id="rId12"/>
            </p:custDataLst>
          </p:nvPr>
        </p:nvSpPr>
        <p:spPr>
          <a:xfrm>
            <a:off x="1800225" y="3255169"/>
            <a:ext cx="25050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90"/>
              </a:lnSpc>
              <a:buNone/>
            </a:pPr>
            <a:r>
              <a:rPr lang="en-US" sz="16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用户体验</a:t>
            </a:r>
            <a:endParaRPr lang="en-US" sz="1600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5" name="Text 8"/>
          <p:cNvSpPr/>
          <p:nvPr>
            <p:custDataLst>
              <p:tags r:id="rId13"/>
            </p:custDataLst>
          </p:nvPr>
        </p:nvSpPr>
        <p:spPr>
          <a:xfrm>
            <a:off x="1800225" y="3653631"/>
            <a:ext cx="2505075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提供个性化照片修复与故事生成服务，增强家庭与社会的情感纽带，丰富文化内涵，开启时光之门的AI之旅。</a:t>
            </a:r>
            <a:endParaRPr lang="en-US" sz="14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pic>
        <p:nvPicPr>
          <p:cNvPr id="16" name="Image 5" descr="preencoded.png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/>
          <a:srcRect/>
          <a:stretch>
            <a:fillRect/>
          </a:stretch>
        </p:blipFill>
        <p:spPr>
          <a:xfrm>
            <a:off x="4394835" y="3048000"/>
            <a:ext cx="4400550" cy="1511300"/>
          </a:xfrm>
          <a:prstGeom prst="rect">
            <a:avLst/>
          </a:prstGeom>
        </p:spPr>
      </p:pic>
      <p:sp>
        <p:nvSpPr>
          <p:cNvPr id="17" name="Text 9"/>
          <p:cNvSpPr/>
          <p:nvPr>
            <p:custDataLst>
              <p:tags r:id="rId16"/>
            </p:custDataLst>
          </p:nvPr>
        </p:nvSpPr>
        <p:spPr>
          <a:xfrm>
            <a:off x="5905500" y="3255169"/>
            <a:ext cx="25050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90"/>
              </a:lnSpc>
              <a:buNone/>
            </a:pPr>
            <a:r>
              <a:rPr lang="en-US" sz="16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项目价值</a:t>
            </a:r>
            <a:endParaRPr lang="en-US" sz="1600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8" name="Text 10"/>
          <p:cNvSpPr/>
          <p:nvPr>
            <p:custDataLst>
              <p:tags r:id="rId17"/>
            </p:custDataLst>
          </p:nvPr>
        </p:nvSpPr>
        <p:spPr>
          <a:xfrm>
            <a:off x="5905500" y="3653631"/>
            <a:ext cx="2505075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不仅修复照片，更挖掘其背后的故事，为用户带来独一无二的情感体验，同时对文化传承具有重要意义。</a:t>
            </a:r>
            <a:endParaRPr lang="en-US" sz="14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核心目标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/>
          <a:stretch>
            <a:fillRect/>
          </a:stretch>
        </p:blipFill>
        <p:spPr>
          <a:xfrm>
            <a:off x="400050" y="1559560"/>
            <a:ext cx="2781300" cy="2368550"/>
          </a:xfrm>
          <a:prstGeom prst="rect">
            <a:avLst/>
          </a:prstGeom>
        </p:spPr>
      </p:pic>
      <p:sp>
        <p:nvSpPr>
          <p:cNvPr id="7" name="Text 3"/>
          <p:cNvSpPr/>
          <p:nvPr>
            <p:custDataLst>
              <p:tags r:id="rId4"/>
            </p:custDataLst>
          </p:nvPr>
        </p:nvSpPr>
        <p:spPr>
          <a:xfrm>
            <a:off x="752475" y="2409666"/>
            <a:ext cx="2076301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6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AI修复老照片</a:t>
            </a:r>
            <a:endParaRPr lang="en-US" sz="1600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8" name="Text 4"/>
          <p:cNvSpPr/>
          <p:nvPr>
            <p:custDataLst>
              <p:tags r:id="rId5"/>
            </p:custDataLst>
          </p:nvPr>
        </p:nvSpPr>
        <p:spPr>
          <a:xfrm>
            <a:off x="752475" y="2700179"/>
            <a:ext cx="2076301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运用先进AI技术，修复老照片的褪色、破损、模糊问题，保留历史韵味。</a:t>
            </a:r>
            <a:endParaRPr lang="en-US" sz="14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/>
          <a:stretch>
            <a:fillRect/>
          </a:stretch>
        </p:blipFill>
        <p:spPr>
          <a:xfrm>
            <a:off x="3181350" y="1559560"/>
            <a:ext cx="2781300" cy="2368550"/>
          </a:xfrm>
          <a:prstGeom prst="rect">
            <a:avLst/>
          </a:prstGeom>
        </p:spPr>
      </p:pic>
      <p:sp>
        <p:nvSpPr>
          <p:cNvPr id="10" name="Text 5"/>
          <p:cNvSpPr/>
          <p:nvPr>
            <p:custDataLst>
              <p:tags r:id="rId8"/>
            </p:custDataLst>
          </p:nvPr>
        </p:nvSpPr>
        <p:spPr>
          <a:xfrm>
            <a:off x="3533626" y="2409031"/>
            <a:ext cx="2076301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6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挖掘照片故事</a:t>
            </a:r>
            <a:endParaRPr lang="en-US" sz="1600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1" name="Text 6"/>
          <p:cNvSpPr/>
          <p:nvPr>
            <p:custDataLst>
              <p:tags r:id="rId9"/>
            </p:custDataLst>
          </p:nvPr>
        </p:nvSpPr>
        <p:spPr>
          <a:xfrm>
            <a:off x="3533626" y="2804954"/>
            <a:ext cx="2076301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通过AI生成丰富内容，构建照片故事集，促进情感分享与传承。</a:t>
            </a:r>
            <a:endParaRPr lang="en-US" sz="14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rcRect/>
          <a:stretch>
            <a:fillRect/>
          </a:stretch>
        </p:blipFill>
        <p:spPr>
          <a:xfrm>
            <a:off x="5962650" y="1559560"/>
            <a:ext cx="2781300" cy="2368550"/>
          </a:xfrm>
          <a:prstGeom prst="rect">
            <a:avLst/>
          </a:prstGeom>
        </p:spPr>
      </p:pic>
      <p:sp>
        <p:nvSpPr>
          <p:cNvPr id="13" name="Text 7"/>
          <p:cNvSpPr/>
          <p:nvPr>
            <p:custDataLst>
              <p:tags r:id="rId12"/>
            </p:custDataLst>
          </p:nvPr>
        </p:nvSpPr>
        <p:spPr>
          <a:xfrm>
            <a:off x="6314777" y="2409666"/>
            <a:ext cx="2076301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6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情感体验与珍藏</a:t>
            </a:r>
            <a:endParaRPr lang="en-US" sz="1600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4" name="Text 8"/>
          <p:cNvSpPr/>
          <p:nvPr>
            <p:custDataLst>
              <p:tags r:id="rId13"/>
            </p:custDataLst>
          </p:nvPr>
        </p:nvSpPr>
        <p:spPr>
          <a:xfrm>
            <a:off x="6314777" y="2804954"/>
            <a:ext cx="2076301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提供独特情感体验，让用户珍藏照片背后的故事，增强家庭与社会的文化内涵。</a:t>
            </a:r>
            <a:endParaRPr lang="en-US" sz="14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6085" y="187960"/>
            <a:ext cx="8291830" cy="476821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6425" y="201930"/>
            <a:ext cx="7930515" cy="45586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69290" y="2372995"/>
            <a:ext cx="72923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https://chinese.redamancyxun.fun/echo/index.html</a:t>
            </a:r>
            <a:endParaRPr lang="en-US" altLang="zh-CN"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314700"/>
            <a:ext cx="47625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功能展示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FFFFFF">
              <a:alpha val="30000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FFFFFF">
                    <a:alpha val="7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22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31775" y="209550"/>
            <a:ext cx="40386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用户登录与注册系统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231775" y="666750"/>
            <a:ext cx="40386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8" name="Text 4"/>
          <p:cNvSpPr/>
          <p:nvPr>
            <p:custDataLst>
              <p:tags r:id="rId2"/>
            </p:custDataLst>
          </p:nvPr>
        </p:nvSpPr>
        <p:spPr>
          <a:xfrm>
            <a:off x="231775" y="473710"/>
            <a:ext cx="2846070" cy="419671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85" y="933450"/>
            <a:ext cx="4301490" cy="2473325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3260" y="933450"/>
            <a:ext cx="4298315" cy="2487295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-111125" y="3559810"/>
            <a:ext cx="8823325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457200" algn="l">
              <a:lnSpc>
                <a:spcPct val="100000"/>
              </a:lnSpc>
              <a:buClrTx/>
              <a:buSzTx/>
              <a:buNone/>
            </a:pPr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用户输入基本信息，一键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登录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/</a:t>
            </a:r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注册，快速创建个人账户，开启专属回忆之旅。</a:t>
            </a:r>
            <a:endParaRPr 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  <a:p>
            <a:pPr marL="0" indent="457200" algn="l">
              <a:lnSpc>
                <a:spcPct val="100000"/>
              </a:lnSpc>
              <a:buNone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457200" algn="l">
              <a:lnSpc>
                <a:spcPct val="100000"/>
              </a:lnSpc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在登录与注册的部分中，我们需要对用户的格式有一定的要求，不能随意的输入。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457200" algn="l">
              <a:lnSpc>
                <a:spcPct val="100000"/>
              </a:lnSpc>
              <a:buNone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457200" algn="l">
              <a:lnSpc>
                <a:spcPct val="100000"/>
              </a:lnSpc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同时实现会话保持，后端管理session，不需要重复登录且更安全。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 algn="l">
              <a:lnSpc>
                <a:spcPct val="100000"/>
              </a:lnSpc>
              <a:buNone/>
            </a:pP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" name="Text 1"/>
          <p:cNvSpPr/>
          <p:nvPr/>
        </p:nvSpPr>
        <p:spPr>
          <a:xfrm>
            <a:off x="368300" y="1841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老照片扫描与智能修复与美化</a:t>
            </a:r>
            <a:endParaRPr lang="en-US" sz="225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77800" y="1205230"/>
            <a:ext cx="3039745" cy="383476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用户上传褪色、破损或模糊的老照片，系统自动分析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调用</a:t>
            </a:r>
            <a:r>
              <a:rPr 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GFPGAN，实现照片修复与美化，保留年代感，展现生动细节。</a:t>
            </a:r>
            <a:endParaRPr 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修复前后对比图直观展示效果，让用户见证照片重生的奇迹，感受科技的力量。</a:t>
            </a:r>
            <a:endParaRPr 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修复后的照片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自动保存</a:t>
            </a:r>
            <a:r>
              <a:rPr 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至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服务器中，在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“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照片故事分享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”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模块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展示，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也可自行下载</a:t>
            </a:r>
            <a:r>
              <a:rPr 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，轻松分享至社交媒体，与亲友共享珍贵记忆的复苏。</a:t>
            </a:r>
            <a:endParaRPr lang="en-US" sz="1600" dirty="0">
              <a:solidFill>
                <a:schemeClr val="tx1"/>
              </a:solidFill>
            </a:endParaRPr>
          </a:p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600" dirty="0">
              <a:solidFill>
                <a:schemeClr val="tx1"/>
              </a:solidFill>
            </a:endParaRPr>
          </a:p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1" name="Text 6"/>
          <p:cNvSpPr/>
          <p:nvPr/>
        </p:nvSpPr>
        <p:spPr>
          <a:xfrm>
            <a:off x="5972175" y="1945481"/>
            <a:ext cx="257175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14" name="Text 8"/>
          <p:cNvSpPr/>
          <p:nvPr/>
        </p:nvSpPr>
        <p:spPr>
          <a:xfrm>
            <a:off x="600075" y="3355181"/>
            <a:ext cx="257175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endParaRPr lang="en-US" sz="105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2460" y="742950"/>
            <a:ext cx="5864225" cy="35458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故事回忆与分享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7" name="Text 4"/>
          <p:cNvSpPr/>
          <p:nvPr>
            <p:custDataLst>
              <p:tags r:id="rId2"/>
            </p:custDataLst>
          </p:nvPr>
        </p:nvSpPr>
        <p:spPr>
          <a:xfrm>
            <a:off x="146685" y="952500"/>
            <a:ext cx="2463800" cy="418084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在照片修复过程中，系统引导用户回忆并记录照片背后的故事。用户可以：添加文字描述、选择合适标签。</a:t>
            </a:r>
            <a:endParaRPr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系统利用讯飞星火模型（图像识别与图像生成）分析照片内容和用户输入的信息，生成富有故事性的文字和图片集，并将其与修复后的照片绑定，形成一个完整的照片故事集。</a:t>
            </a:r>
            <a:endParaRPr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用户可以将这些故事集下载为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PDF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、分享给家人和朋友，共同重温珍贵的过往时光。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endParaRPr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9" name="Text 6"/>
          <p:cNvSpPr/>
          <p:nvPr>
            <p:custDataLst>
              <p:tags r:id="rId3"/>
            </p:custDataLst>
          </p:nvPr>
        </p:nvSpPr>
        <p:spPr>
          <a:xfrm>
            <a:off x="2762250" y="3867150"/>
            <a:ext cx="1524000" cy="419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11" name="Text 8"/>
          <p:cNvSpPr/>
          <p:nvPr>
            <p:custDataLst>
              <p:tags r:id="rId4"/>
            </p:custDataLst>
          </p:nvPr>
        </p:nvSpPr>
        <p:spPr>
          <a:xfrm>
            <a:off x="4857750" y="3867150"/>
            <a:ext cx="1524000" cy="419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14" name="Text 10"/>
          <p:cNvSpPr/>
          <p:nvPr>
            <p:custDataLst>
              <p:tags r:id="rId5"/>
            </p:custDataLst>
          </p:nvPr>
        </p:nvSpPr>
        <p:spPr>
          <a:xfrm>
            <a:off x="6953250" y="3867150"/>
            <a:ext cx="1524000" cy="419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endParaRPr lang="en-US" sz="1050" dirty="0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62555" y="742950"/>
            <a:ext cx="6423025" cy="377380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7370" y="278130"/>
            <a:ext cx="7900035" cy="45872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225" y="130810"/>
            <a:ext cx="8260715" cy="48818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135" y="793115"/>
            <a:ext cx="4253865" cy="347281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0580" y="793115"/>
            <a:ext cx="4263390" cy="348107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7350" y="1343025"/>
            <a:ext cx="5431155" cy="3162300"/>
          </a:xfrm>
          <a:prstGeom prst="rect">
            <a:avLst/>
          </a:prstGeom>
        </p:spPr>
      </p:pic>
      <p:pic>
        <p:nvPicPr>
          <p:cNvPr id="3" name="图片 2" descr="d05c91f6c53146fb11beaf7b21eb82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1290" y="133350"/>
            <a:ext cx="2191385" cy="487743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p>
            <a:pPr marL="0" indent="0" algn="l">
              <a:lnSpc>
                <a:spcPts val="3150"/>
              </a:lnSpc>
              <a:buNone/>
            </a:pPr>
            <a:r>
              <a:rPr lang="zh-CN" alt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人性化设计、手机端</a:t>
            </a:r>
            <a:r>
              <a:rPr lang="zh-CN" alt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支持</a:t>
            </a:r>
            <a:endParaRPr lang="zh-CN" altLang="en-US" sz="2250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314700"/>
            <a:ext cx="47625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技术原理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FFFFFF">
              <a:alpha val="30000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FFFFFF">
                    <a:alpha val="7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22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285750"/>
            <a:ext cx="40386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GFPGAN模型原理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571500" y="742950"/>
            <a:ext cx="40386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18" name="文本框 17"/>
          <p:cNvSpPr txBox="1"/>
          <p:nvPr/>
        </p:nvSpPr>
        <p:spPr>
          <a:xfrm>
            <a:off x="417195" y="1009650"/>
            <a:ext cx="8310245" cy="3383280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>
              <a:lnSpc>
                <a:spcPct val="150000"/>
              </a:lnSpc>
            </a:pPr>
            <a:r>
              <a:rPr lang="en-US" altLang="zh-CN" sz="1600" b="0" i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GFPGAN</a:t>
            </a:r>
            <a:r>
              <a:rPr lang="zh-CN" altLang="en-US" sz="1600" b="0" i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1600" b="0" i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Generative Facial Prior Guided Network</a:t>
            </a:r>
            <a:r>
              <a:rPr lang="zh-CN" altLang="en-US" sz="1600" b="0" i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）是 </a:t>
            </a:r>
            <a:r>
              <a:rPr lang="en-US" altLang="zh-CN" sz="1600" b="0" i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2021 </a:t>
            </a:r>
            <a:r>
              <a:rPr lang="zh-CN" altLang="en-US" sz="1600" b="0" i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年由 </a:t>
            </a:r>
            <a:r>
              <a:rPr lang="en-US" altLang="zh-CN" sz="1600" b="0" i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TencentARC </a:t>
            </a:r>
            <a:r>
              <a:rPr lang="zh-CN" altLang="en-US" sz="1600" b="0" i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实验室提出的人脸图像修复与超分辨率模型，主要用于解决低质量人脸图像（如模糊、噪声、压缩失真）的高清还原问题。其核心创新在于将</a:t>
            </a:r>
            <a:r>
              <a:rPr lang="zh-CN" altLang="en-US" sz="1600" b="0" i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生成式面部先验知识</a:t>
            </a:r>
            <a:r>
              <a:rPr lang="zh-CN" altLang="en-US" sz="1600" b="0" i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与深度学习网络结合，突破了传统超分辨率模型在人脸结构合理性和真实感上的局限。</a:t>
            </a:r>
            <a:endParaRPr lang="zh-CN" altLang="en-US" sz="1600" b="0" i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</a:pPr>
            <a:endParaRPr lang="zh-CN" altLang="en-US" sz="1600" b="0" i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</a:pPr>
            <a:r>
              <a:rPr lang="zh-CN" altLang="en-US" sz="1600" b="0" i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 </a:t>
            </a:r>
            <a:r>
              <a:rPr lang="en-US" altLang="zh-CN" sz="1600" b="0" i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GFPGAN </a:t>
            </a:r>
            <a:r>
              <a:rPr lang="zh-CN" altLang="en-US" sz="1600" b="0" i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之前，主流模型（如 </a:t>
            </a:r>
            <a:r>
              <a:rPr lang="en-US" altLang="zh-CN" sz="1600" b="0" i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SRGAN</a:t>
            </a:r>
            <a:r>
              <a:rPr lang="zh-CN" altLang="en-US" sz="1600" b="0" i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600" b="0" i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ESRGAN</a:t>
            </a:r>
            <a:r>
              <a:rPr lang="zh-CN" altLang="en-US" sz="1600" b="0" i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）虽能提升分辨率，但容易产生面部细节失真（如五官错位、纹理模糊），而 </a:t>
            </a:r>
            <a:r>
              <a:rPr lang="en-US" altLang="zh-CN" sz="1600" b="0" i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GFPGAN </a:t>
            </a:r>
            <a:r>
              <a:rPr lang="zh-CN" altLang="en-US" sz="1600" b="0" i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通过引入预训练的面部先验模型，强制生成结果符合真实人脸的结构规律，显著提升了修复效果的自然度。</a:t>
            </a:r>
            <a:endParaRPr lang="zh-CN" altLang="en-US" sz="1600" b="0" i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565" y="332740"/>
            <a:ext cx="7449185" cy="45542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120" y="244475"/>
            <a:ext cx="7640955" cy="434149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955" y="454025"/>
            <a:ext cx="8639175" cy="423545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t="3571" b="3571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讯飞星火模型原理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 t="8333" b="8333"/>
          <a:stretch>
            <a:fillRect/>
          </a:stretch>
        </p:blipFill>
        <p:spPr>
          <a:xfrm>
            <a:off x="571500" y="1428750"/>
            <a:ext cx="1714500" cy="1428750"/>
          </a:xfrm>
          <a:prstGeom prst="rect">
            <a:avLst/>
          </a:prstGeom>
        </p:spPr>
      </p:pic>
      <p:sp>
        <p:nvSpPr>
          <p:cNvPr id="7" name="Text 3"/>
          <p:cNvSpPr/>
          <p:nvPr>
            <p:custDataLst>
              <p:tags r:id="rId3"/>
            </p:custDataLst>
          </p:nvPr>
        </p:nvSpPr>
        <p:spPr>
          <a:xfrm>
            <a:off x="571500" y="3048000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认知模拟</a:t>
            </a:r>
            <a:endParaRPr lang="en-US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8" name="Text 4"/>
          <p:cNvSpPr/>
          <p:nvPr>
            <p:custDataLst>
              <p:tags r:id="rId4"/>
            </p:custDataLst>
          </p:nvPr>
        </p:nvSpPr>
        <p:spPr>
          <a:xfrm>
            <a:off x="571500" y="3295650"/>
            <a:ext cx="1714500" cy="151701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讯飞星火模型模仿人脑认知机制，构建多层多模态认知体系，实现智能化应用。</a:t>
            </a:r>
            <a:endParaRPr 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 t="8333" b="8333"/>
          <a:stretch>
            <a:fillRect/>
          </a:stretch>
        </p:blipFill>
        <p:spPr>
          <a:xfrm>
            <a:off x="2667000" y="1428750"/>
            <a:ext cx="1714500" cy="1428750"/>
          </a:xfrm>
          <a:prstGeom prst="rect">
            <a:avLst/>
          </a:prstGeom>
        </p:spPr>
      </p:pic>
      <p:sp>
        <p:nvSpPr>
          <p:cNvPr id="10" name="Text 5"/>
          <p:cNvSpPr/>
          <p:nvPr>
            <p:custDataLst>
              <p:tags r:id="rId6"/>
            </p:custDataLst>
          </p:nvPr>
        </p:nvSpPr>
        <p:spPr>
          <a:xfrm>
            <a:off x="2667000" y="3048000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深度学习</a:t>
            </a:r>
            <a:endParaRPr lang="en-US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1" name="Text 6"/>
          <p:cNvSpPr/>
          <p:nvPr>
            <p:custDataLst>
              <p:tags r:id="rId7"/>
            </p:custDataLst>
          </p:nvPr>
        </p:nvSpPr>
        <p:spPr>
          <a:xfrm>
            <a:off x="2667000" y="3295650"/>
            <a:ext cx="1714500" cy="151701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采用深度神经网络，结合自然语言处理技术，精准理解与生成文本和图像内容。</a:t>
            </a:r>
            <a:endParaRPr 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8"/>
          <a:srcRect t="8333" b="8333"/>
          <a:stretch>
            <a:fillRect/>
          </a:stretch>
        </p:blipFill>
        <p:spPr>
          <a:xfrm>
            <a:off x="4762500" y="1428750"/>
            <a:ext cx="1714500" cy="1428750"/>
          </a:xfrm>
          <a:prstGeom prst="rect">
            <a:avLst/>
          </a:prstGeom>
        </p:spPr>
      </p:pic>
      <p:sp>
        <p:nvSpPr>
          <p:cNvPr id="13" name="Text 7"/>
          <p:cNvSpPr/>
          <p:nvPr>
            <p:custDataLst>
              <p:tags r:id="rId9"/>
            </p:custDataLst>
          </p:nvPr>
        </p:nvSpPr>
        <p:spPr>
          <a:xfrm>
            <a:off x="4762500" y="3048000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分层架构</a:t>
            </a:r>
            <a:endParaRPr lang="en-US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4" name="Text 8"/>
          <p:cNvSpPr/>
          <p:nvPr>
            <p:custDataLst>
              <p:tags r:id="rId10"/>
            </p:custDataLst>
          </p:nvPr>
        </p:nvSpPr>
        <p:spPr>
          <a:xfrm>
            <a:off x="4762500" y="3295650"/>
            <a:ext cx="1714500" cy="151701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感知层接收信息，认知层分析理解，推理层做出决策，形成闭环认知流程。</a:t>
            </a:r>
            <a:endParaRPr 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5" name="Text 9"/>
          <p:cNvSpPr/>
          <p:nvPr>
            <p:custDataLst>
              <p:tags r:id="rId11"/>
            </p:custDataLst>
          </p:nvPr>
        </p:nvSpPr>
        <p:spPr>
          <a:xfrm>
            <a:off x="6858000" y="3048000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自我进化</a:t>
            </a:r>
            <a:endParaRPr lang="en-US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6" name="Text 10"/>
          <p:cNvSpPr/>
          <p:nvPr>
            <p:custDataLst>
              <p:tags r:id="rId12"/>
            </p:custDataLst>
          </p:nvPr>
        </p:nvSpPr>
        <p:spPr>
          <a:xfrm>
            <a:off x="6858000" y="3295650"/>
            <a:ext cx="1714500" cy="151701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模型具备自我学习能力，通过持续交互与优化，不断提升性能与智能水平。</a:t>
            </a:r>
            <a:endParaRPr 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314700"/>
            <a:ext cx="47625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总结与展望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FFFFFF">
              <a:alpha val="30000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FFFFFF">
                    <a:alpha val="7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22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项目总结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/>
          <a:stretch>
            <a:fillRect/>
          </a:stretch>
        </p:blipFill>
        <p:spPr>
          <a:xfrm>
            <a:off x="361950" y="1384300"/>
            <a:ext cx="2781151" cy="2266950"/>
          </a:xfrm>
          <a:prstGeom prst="rect">
            <a:avLst/>
          </a:prstGeom>
        </p:spPr>
      </p:pic>
      <p:sp>
        <p:nvSpPr>
          <p:cNvPr id="7" name="Text 3"/>
          <p:cNvSpPr/>
          <p:nvPr>
            <p:custDataLst>
              <p:tags r:id="rId4"/>
            </p:custDataLst>
          </p:nvPr>
        </p:nvSpPr>
        <p:spPr>
          <a:xfrm>
            <a:off x="714375" y="2234406"/>
            <a:ext cx="2076301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6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创新平台构建</a:t>
            </a:r>
            <a:endParaRPr lang="en-US" sz="1600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8" name="Text 4"/>
          <p:cNvSpPr/>
          <p:nvPr>
            <p:custDataLst>
              <p:tags r:id="rId5"/>
            </p:custDataLst>
          </p:nvPr>
        </p:nvSpPr>
        <p:spPr>
          <a:xfrm>
            <a:off x="714375" y="2582069"/>
            <a:ext cx="2076301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成功打造融合AI技术与情感回忆的平台，实现智能照片修复与故事挖掘。</a:t>
            </a:r>
            <a:endParaRPr lang="en-US" sz="14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/>
          <a:stretch>
            <a:fillRect/>
          </a:stretch>
        </p:blipFill>
        <p:spPr>
          <a:xfrm>
            <a:off x="3143101" y="1384300"/>
            <a:ext cx="2781151" cy="2266950"/>
          </a:xfrm>
          <a:prstGeom prst="rect">
            <a:avLst/>
          </a:prstGeom>
        </p:spPr>
      </p:pic>
      <p:sp>
        <p:nvSpPr>
          <p:cNvPr id="10" name="Text 5"/>
          <p:cNvSpPr/>
          <p:nvPr>
            <p:custDataLst>
              <p:tags r:id="rId8"/>
            </p:custDataLst>
          </p:nvPr>
        </p:nvSpPr>
        <p:spPr>
          <a:xfrm>
            <a:off x="3495526" y="2234406"/>
            <a:ext cx="2076301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6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独特服务体验</a:t>
            </a:r>
            <a:endParaRPr lang="en-US" sz="1600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1" name="Text 6"/>
          <p:cNvSpPr/>
          <p:nvPr>
            <p:custDataLst>
              <p:tags r:id="rId9"/>
            </p:custDataLst>
          </p:nvPr>
        </p:nvSpPr>
        <p:spPr>
          <a:xfrm>
            <a:off x="3495526" y="2686844"/>
            <a:ext cx="2076301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提供简洁易用功能与先进技术，创造独特服务，强化情感传承价值。</a:t>
            </a:r>
            <a:endParaRPr lang="en-US" sz="14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rcRect/>
          <a:stretch>
            <a:fillRect/>
          </a:stretch>
        </p:blipFill>
        <p:spPr>
          <a:xfrm>
            <a:off x="5924252" y="1384300"/>
            <a:ext cx="2781151" cy="2266950"/>
          </a:xfrm>
          <a:prstGeom prst="rect">
            <a:avLst/>
          </a:prstGeom>
        </p:spPr>
      </p:pic>
      <p:sp>
        <p:nvSpPr>
          <p:cNvPr id="13" name="Text 7"/>
          <p:cNvSpPr/>
          <p:nvPr>
            <p:custDataLst>
              <p:tags r:id="rId12"/>
            </p:custDataLst>
          </p:nvPr>
        </p:nvSpPr>
        <p:spPr>
          <a:xfrm>
            <a:off x="6276677" y="2234406"/>
            <a:ext cx="2076301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6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应用领域拓展</a:t>
            </a:r>
            <a:endParaRPr lang="en-US" sz="1600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4" name="Text 8"/>
          <p:cNvSpPr/>
          <p:nvPr>
            <p:custDataLst>
              <p:tags r:id="rId13"/>
            </p:custDataLst>
          </p:nvPr>
        </p:nvSpPr>
        <p:spPr>
          <a:xfrm>
            <a:off x="6276677" y="2582069"/>
            <a:ext cx="2076301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着眼未来，计划拓展至历史文物修复、档案数字化等新领域，深化文化保护。</a:t>
            </a:r>
            <a:endParaRPr lang="en-US" sz="14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014538"/>
            <a:ext cx="80010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THANKS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3014663"/>
            <a:ext cx="604838" cy="114300"/>
          </a:xfrm>
          <a:prstGeom prst="rect">
            <a:avLst/>
          </a:prstGeom>
          <a:solidFill>
            <a:srgbClr val="FFFFFF"/>
          </a:solidFill>
        </p:spPr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56.2749606299212,&quot;left&quot;:277.5,&quot;top&quot;:68.81251968503936,&quot;width&quot;:436.8}"/>
</p:tagLst>
</file>

<file path=ppt/tags/tag2.xml><?xml version="1.0" encoding="utf-8"?>
<p:tagLst xmlns:p="http://schemas.openxmlformats.org/presentationml/2006/main">
  <p:tag name="KSO_WM_DIAGRAM_VIRTUALLY_FRAME" val="{&quot;height&quot;:256.2749606299212,&quot;left&quot;:277.5,&quot;top&quot;:68.81251968503936,&quot;width&quot;:436.8}"/>
</p:tagLst>
</file>

<file path=ppt/tags/tag3.xml><?xml version="1.0" encoding="utf-8"?>
<p:tagLst xmlns:p="http://schemas.openxmlformats.org/presentationml/2006/main">
  <p:tag name="KSO_WM_DIAGRAM_VIRTUALLY_FRAME" val="{&quot;height&quot;:256.2749606299212,&quot;left&quot;:277.5,&quot;top&quot;:68.81251968503936,&quot;width&quot;:436.8}"/>
</p:tagLst>
</file>

<file path=ppt/tags/tag4.xml><?xml version="1.0" encoding="utf-8"?>
<p:tagLst xmlns:p="http://schemas.openxmlformats.org/presentationml/2006/main">
  <p:tag name="KSO_WM_DIAGRAM_VIRTUALLY_FRAME" val="{&quot;height&quot;:256.2749606299212,&quot;left&quot;:277.5,&quot;top&quot;:68.81251968503936,&quot;width&quot;:436.8}"/>
</p:tagLst>
</file>

<file path=ppt/tags/tag5.xml><?xml version="1.0" encoding="utf-8"?>
<p:tagLst xmlns:p="http://schemas.openxmlformats.org/presentationml/2006/main">
  <p:tag name="KSO_WM_DIAGRAM_VIRTUALLY_FRAME" val="{&quot;height&quot;:256.2749606299212,&quot;left&quot;:277.5,&quot;top&quot;:68.81251968503936,&quot;width&quot;:436.8}"/>
</p:tagLst>
</file>

<file path=ppt/tags/tag6.xml><?xml version="1.0" encoding="utf-8"?>
<p:tagLst xmlns:p="http://schemas.openxmlformats.org/presentationml/2006/main">
  <p:tag name="KSO_WM_DIAGRAM_VIRTUALLY_FRAME" val="{&quot;height&quot;:256.2749606299212,&quot;left&quot;:277.5,&quot;top&quot;:68.81251968503936,&quot;width&quot;:436.8}"/>
</p:tagLst>
</file>

<file path=ppt/tags/tag7.xml><?xml version="1.0" encoding="utf-8"?>
<p:tagLst xmlns:p="http://schemas.openxmlformats.org/presentationml/2006/main">
  <p:tag name="KSO_WM_DIAGRAM_VIRTUALLY_FRAME" val="{&quot;height&quot;:256.2749606299212,&quot;left&quot;:277.5,&quot;top&quot;:68.81251968503936,&quot;width&quot;:436.8}"/>
</p:tagLst>
</file>

<file path=ppt/tags/tag8.xml><?xml version="1.0" encoding="utf-8"?>
<p:tagLst xmlns:p="http://schemas.openxmlformats.org/presentationml/2006/main">
  <p:tag name="KSO_WM_DIAGRAM_VIRTUALLY_FRAME" val="{&quot;height&quot;:256.2749606299212,&quot;left&quot;:277.5,&quot;top&quot;:68.81251968503936,&quot;width&quot;:436.8}"/>
</p:tagLst>
</file>

<file path=ppt/tags/tag9.xml><?xml version="1.0" encoding="utf-8"?>
<p:tagLst xmlns:p="http://schemas.openxmlformats.org/presentationml/2006/main">
  <p:tag name="KSO_WM_DIAGRAM_VIRTUALLY_FRAME" val="{&quot;height&quot;:256.2749606299212,&quot;left&quot;:277.5,&quot;top&quot;:68.81251968503936,&quot;width&quot;:436.8}"/>
</p:tagLst>
</file>

<file path=ppt/tags/tag10.xml><?xml version="1.0" encoding="utf-8"?>
<p:tagLst xmlns:p="http://schemas.openxmlformats.org/presentationml/2006/main">
  <p:tag name="KSO_WM_DIAGRAM_VIRTUALLY_FRAME" val="{&quot;height&quot;:256.2749606299212,&quot;left&quot;:277.5,&quot;top&quot;:68.81251968503936,&quot;width&quot;:436.8}"/>
</p:tagLst>
</file>

<file path=ppt/tags/tag11.xml><?xml version="1.0" encoding="utf-8"?>
<p:tagLst xmlns:p="http://schemas.openxmlformats.org/presentationml/2006/main">
  <p:tag name="KSO_WM_DIAGRAM_VIRTUALLY_FRAME" val="{&quot;height&quot;:444,&quot;left&quot;:22.8,&quot;top&quot;:91.5,&quot;width&quot;:669.75}"/>
</p:tagLst>
</file>

<file path=ppt/tags/tag12.xml><?xml version="1.0" encoding="utf-8"?>
<p:tagLst xmlns:p="http://schemas.openxmlformats.org/presentationml/2006/main">
  <p:tag name="KSO_WM_DIAGRAM_VIRTUALLY_FRAME" val="{&quot;height&quot;:444,&quot;left&quot;:22.8,&quot;top&quot;:91.5,&quot;width&quot;:669.75}"/>
</p:tagLst>
</file>

<file path=ppt/tags/tag13.xml><?xml version="1.0" encoding="utf-8"?>
<p:tagLst xmlns:p="http://schemas.openxmlformats.org/presentationml/2006/main">
  <p:tag name="KSO_WM_DIAGRAM_VIRTUALLY_FRAME" val="{&quot;height&quot;:444,&quot;left&quot;:22.8,&quot;top&quot;:91.5,&quot;width&quot;:669.75}"/>
</p:tagLst>
</file>

<file path=ppt/tags/tag14.xml><?xml version="1.0" encoding="utf-8"?>
<p:tagLst xmlns:p="http://schemas.openxmlformats.org/presentationml/2006/main">
  <p:tag name="KSO_WM_DIAGRAM_VIRTUALLY_FRAME" val="{&quot;height&quot;:444,&quot;left&quot;:22.8,&quot;top&quot;:91.5,&quot;width&quot;:669.75}"/>
</p:tagLst>
</file>

<file path=ppt/tags/tag15.xml><?xml version="1.0" encoding="utf-8"?>
<p:tagLst xmlns:p="http://schemas.openxmlformats.org/presentationml/2006/main">
  <p:tag name="KSO_WM_DIAGRAM_VIRTUALLY_FRAME" val="{&quot;height&quot;:444,&quot;left&quot;:22.8,&quot;top&quot;:91.5,&quot;width&quot;:669.75}"/>
</p:tagLst>
</file>

<file path=ppt/tags/tag16.xml><?xml version="1.0" encoding="utf-8"?>
<p:tagLst xmlns:p="http://schemas.openxmlformats.org/presentationml/2006/main">
  <p:tag name="KSO_WM_DIAGRAM_VIRTUALLY_FRAME" val="{&quot;height&quot;:444,&quot;left&quot;:22.8,&quot;top&quot;:91.5,&quot;width&quot;:669.75}"/>
</p:tagLst>
</file>

<file path=ppt/tags/tag17.xml><?xml version="1.0" encoding="utf-8"?>
<p:tagLst xmlns:p="http://schemas.openxmlformats.org/presentationml/2006/main">
  <p:tag name="KSO_WM_DIAGRAM_VIRTUALLY_FRAME" val="{&quot;height&quot;:444,&quot;left&quot;:22.8,&quot;top&quot;:91.5,&quot;width&quot;:669.75}"/>
</p:tagLst>
</file>

<file path=ppt/tags/tag18.xml><?xml version="1.0" encoding="utf-8"?>
<p:tagLst xmlns:p="http://schemas.openxmlformats.org/presentationml/2006/main">
  <p:tag name="KSO_WM_DIAGRAM_VIRTUALLY_FRAME" val="{&quot;height&quot;:444,&quot;left&quot;:22.8,&quot;top&quot;:91.5,&quot;width&quot;:669.75}"/>
</p:tagLst>
</file>

<file path=ppt/tags/tag19.xml><?xml version="1.0" encoding="utf-8"?>
<p:tagLst xmlns:p="http://schemas.openxmlformats.org/presentationml/2006/main">
  <p:tag name="KSO_WM_DIAGRAM_VIRTUALLY_FRAME" val="{&quot;height&quot;:444,&quot;left&quot;:22.8,&quot;top&quot;:91.5,&quot;width&quot;:669.75}"/>
</p:tagLst>
</file>

<file path=ppt/tags/tag20.xml><?xml version="1.0" encoding="utf-8"?>
<p:tagLst xmlns:p="http://schemas.openxmlformats.org/presentationml/2006/main">
  <p:tag name="KSO_WM_DIAGRAM_VIRTUALLY_FRAME" val="{&quot;height&quot;:444,&quot;left&quot;:22.8,&quot;top&quot;:91.5,&quot;width&quot;:669.75}"/>
</p:tagLst>
</file>

<file path=ppt/tags/tag21.xml><?xml version="1.0" encoding="utf-8"?>
<p:tagLst xmlns:p="http://schemas.openxmlformats.org/presentationml/2006/main">
  <p:tag name="KSO_WM_DIAGRAM_VIRTUALLY_FRAME" val="{&quot;height&quot;:444,&quot;left&quot;:22.8,&quot;top&quot;:91.5,&quot;width&quot;:669.75}"/>
</p:tagLst>
</file>

<file path=ppt/tags/tag22.xml><?xml version="1.0" encoding="utf-8"?>
<p:tagLst xmlns:p="http://schemas.openxmlformats.org/presentationml/2006/main">
  <p:tag name="KSO_WM_DIAGRAM_VIRTUALLY_FRAME" val="{&quot;height&quot;:444,&quot;left&quot;:22.8,&quot;top&quot;:91.5,&quot;width&quot;:669.75}"/>
</p:tagLst>
</file>

<file path=ppt/tags/tag23.xml><?xml version="1.0" encoding="utf-8"?>
<p:tagLst xmlns:p="http://schemas.openxmlformats.org/presentationml/2006/main">
  <p:tag name="KSO_WM_DIAGRAM_VIRTUALLY_FRAME" val="{&quot;height&quot;:214.7,&quot;left&quot;:31.5,&quot;top&quot;:122.8,&quot;width&quot;:657}"/>
</p:tagLst>
</file>

<file path=ppt/tags/tag24.xml><?xml version="1.0" encoding="utf-8"?>
<p:tagLst xmlns:p="http://schemas.openxmlformats.org/presentationml/2006/main">
  <p:tag name="KSO_WM_DIAGRAM_VIRTUALLY_FRAME" val="{&quot;height&quot;:214.7,&quot;left&quot;:31.5,&quot;top&quot;:122.8,&quot;width&quot;:657}"/>
</p:tagLst>
</file>

<file path=ppt/tags/tag25.xml><?xml version="1.0" encoding="utf-8"?>
<p:tagLst xmlns:p="http://schemas.openxmlformats.org/presentationml/2006/main">
  <p:tag name="KSO_WM_DIAGRAM_VIRTUALLY_FRAME" val="{&quot;height&quot;:214.7,&quot;left&quot;:31.5,&quot;top&quot;:122.8,&quot;width&quot;:657}"/>
</p:tagLst>
</file>

<file path=ppt/tags/tag26.xml><?xml version="1.0" encoding="utf-8"?>
<p:tagLst xmlns:p="http://schemas.openxmlformats.org/presentationml/2006/main">
  <p:tag name="KSO_WM_DIAGRAM_VIRTUALLY_FRAME" val="{&quot;height&quot;:214.7,&quot;left&quot;:31.5,&quot;top&quot;:122.8,&quot;width&quot;:657}"/>
</p:tagLst>
</file>

<file path=ppt/tags/tag27.xml><?xml version="1.0" encoding="utf-8"?>
<p:tagLst xmlns:p="http://schemas.openxmlformats.org/presentationml/2006/main">
  <p:tag name="KSO_WM_DIAGRAM_VIRTUALLY_FRAME" val="{&quot;height&quot;:214.7,&quot;left&quot;:31.5,&quot;top&quot;:122.8,&quot;width&quot;:657}"/>
</p:tagLst>
</file>

<file path=ppt/tags/tag28.xml><?xml version="1.0" encoding="utf-8"?>
<p:tagLst xmlns:p="http://schemas.openxmlformats.org/presentationml/2006/main">
  <p:tag name="KSO_WM_DIAGRAM_VIRTUALLY_FRAME" val="{&quot;height&quot;:214.7,&quot;left&quot;:31.5,&quot;top&quot;:122.8,&quot;width&quot;:657}"/>
</p:tagLst>
</file>

<file path=ppt/tags/tag29.xml><?xml version="1.0" encoding="utf-8"?>
<p:tagLst xmlns:p="http://schemas.openxmlformats.org/presentationml/2006/main">
  <p:tag name="KSO_WM_DIAGRAM_VIRTUALLY_FRAME" val="{&quot;height&quot;:214.7,&quot;left&quot;:31.5,&quot;top&quot;:122.8,&quot;width&quot;:657}"/>
</p:tagLst>
</file>

<file path=ppt/tags/tag30.xml><?xml version="1.0" encoding="utf-8"?>
<p:tagLst xmlns:p="http://schemas.openxmlformats.org/presentationml/2006/main">
  <p:tag name="KSO_WM_DIAGRAM_VIRTUALLY_FRAME" val="{&quot;height&quot;:214.7,&quot;left&quot;:31.5,&quot;top&quot;:122.8,&quot;width&quot;:657}"/>
</p:tagLst>
</file>

<file path=ppt/tags/tag31.xml><?xml version="1.0" encoding="utf-8"?>
<p:tagLst xmlns:p="http://schemas.openxmlformats.org/presentationml/2006/main">
  <p:tag name="KSO_WM_DIAGRAM_VIRTUALLY_FRAME" val="{&quot;height&quot;:214.7,&quot;left&quot;:31.5,&quot;top&quot;:122.8,&quot;width&quot;:657}"/>
</p:tagLst>
</file>

<file path=ppt/tags/tag32.xml><?xml version="1.0" encoding="utf-8"?>
<p:tagLst xmlns:p="http://schemas.openxmlformats.org/presentationml/2006/main">
  <p:tag name="KSO_WM_DIAGRAM_VIRTUALLY_FRAME" val="{&quot;height&quot;:153,&quot;left&quot;:348.75,&quot;top&quot;:105,&quot;width&quot;:326.25}"/>
</p:tagLst>
</file>

<file path=ppt/tags/tag33.xml><?xml version="1.0" encoding="utf-8"?>
<p:tagLst xmlns:p="http://schemas.openxmlformats.org/presentationml/2006/main">
  <p:tag name="KSO_WM_DIAGRAM_VIRTUALLY_FRAME" val="{&quot;height&quot;:52.5,&quot;left&quot;:52.5,&quot;top&quot;:285,&quot;width&quot;:615}"/>
</p:tagLst>
</file>

<file path=ppt/tags/tag34.xml><?xml version="1.0" encoding="utf-8"?>
<p:tagLst xmlns:p="http://schemas.openxmlformats.org/presentationml/2006/main">
  <p:tag name="KSO_WM_DIAGRAM_VIRTUALLY_FRAME" val="{&quot;height&quot;:52.5,&quot;left&quot;:52.5,&quot;top&quot;:285,&quot;width&quot;:615}"/>
</p:tagLst>
</file>

<file path=ppt/tags/tag35.xml><?xml version="1.0" encoding="utf-8"?>
<p:tagLst xmlns:p="http://schemas.openxmlformats.org/presentationml/2006/main">
  <p:tag name="KSO_WM_DIAGRAM_VIRTUALLY_FRAME" val="{&quot;height&quot;:52.5,&quot;left&quot;:52.5,&quot;top&quot;:285,&quot;width&quot;:615}"/>
</p:tagLst>
</file>

<file path=ppt/tags/tag36.xml><?xml version="1.0" encoding="utf-8"?>
<p:tagLst xmlns:p="http://schemas.openxmlformats.org/presentationml/2006/main">
  <p:tag name="KSO_WM_DIAGRAM_VIRTUALLY_FRAME" val="{&quot;height&quot;:52.5,&quot;left&quot;:52.5,&quot;top&quot;:285,&quot;width&quot;:615}"/>
</p:tagLst>
</file>

<file path=ppt/tags/tag37.xml><?xml version="1.0" encoding="utf-8"?>
<p:tagLst xmlns:p="http://schemas.openxmlformats.org/presentationml/2006/main">
  <p:tag name="KSO_WM_DIAGRAM_VIRTUALLY_FRAME" val="{&quot;height&quot;:138.95,&quot;left&quot;:45,&quot;top&quot;:240,&quot;width&quot;:630}"/>
</p:tagLst>
</file>

<file path=ppt/tags/tag38.xml><?xml version="1.0" encoding="utf-8"?>
<p:tagLst xmlns:p="http://schemas.openxmlformats.org/presentationml/2006/main">
  <p:tag name="KSO_WM_DIAGRAM_VIRTUALLY_FRAME" val="{&quot;height&quot;:138.95,&quot;left&quot;:45,&quot;top&quot;:240,&quot;width&quot;:630}"/>
</p:tagLst>
</file>

<file path=ppt/tags/tag39.xml><?xml version="1.0" encoding="utf-8"?>
<p:tagLst xmlns:p="http://schemas.openxmlformats.org/presentationml/2006/main">
  <p:tag name="KSO_WM_DIAGRAM_VIRTUALLY_FRAME" val="{&quot;height&quot;:138.95,&quot;left&quot;:45,&quot;top&quot;:240,&quot;width&quot;:630}"/>
</p:tagLst>
</file>

<file path=ppt/tags/tag40.xml><?xml version="1.0" encoding="utf-8"?>
<p:tagLst xmlns:p="http://schemas.openxmlformats.org/presentationml/2006/main">
  <p:tag name="KSO_WM_DIAGRAM_VIRTUALLY_FRAME" val="{&quot;height&quot;:138.95,&quot;left&quot;:45,&quot;top&quot;:240,&quot;width&quot;:630}"/>
</p:tagLst>
</file>

<file path=ppt/tags/tag41.xml><?xml version="1.0" encoding="utf-8"?>
<p:tagLst xmlns:p="http://schemas.openxmlformats.org/presentationml/2006/main">
  <p:tag name="KSO_WM_DIAGRAM_VIRTUALLY_FRAME" val="{&quot;height&quot;:138.95,&quot;left&quot;:45,&quot;top&quot;:240,&quot;width&quot;:630}"/>
</p:tagLst>
</file>

<file path=ppt/tags/tag42.xml><?xml version="1.0" encoding="utf-8"?>
<p:tagLst xmlns:p="http://schemas.openxmlformats.org/presentationml/2006/main">
  <p:tag name="KSO_WM_DIAGRAM_VIRTUALLY_FRAME" val="{&quot;height&quot;:138.95,&quot;left&quot;:45,&quot;top&quot;:240,&quot;width&quot;:630}"/>
</p:tagLst>
</file>

<file path=ppt/tags/tag43.xml><?xml version="1.0" encoding="utf-8"?>
<p:tagLst xmlns:p="http://schemas.openxmlformats.org/presentationml/2006/main">
  <p:tag name="KSO_WM_DIAGRAM_VIRTUALLY_FRAME" val="{&quot;height&quot;:138.95,&quot;left&quot;:45,&quot;top&quot;:240,&quot;width&quot;:630}"/>
</p:tagLst>
</file>

<file path=ppt/tags/tag44.xml><?xml version="1.0" encoding="utf-8"?>
<p:tagLst xmlns:p="http://schemas.openxmlformats.org/presentationml/2006/main">
  <p:tag name="KSO_WM_DIAGRAM_VIRTUALLY_FRAME" val="{&quot;height&quot;:138.95,&quot;left&quot;:45,&quot;top&quot;:240,&quot;width&quot;:630}"/>
</p:tagLst>
</file>

<file path=ppt/tags/tag45.xml><?xml version="1.0" encoding="utf-8"?>
<p:tagLst xmlns:p="http://schemas.openxmlformats.org/presentationml/2006/main">
  <p:tag name="KSO_WM_DIAGRAM_VIRTUALLY_FRAME" val="{&quot;height&quot;:228.5,&quot;left&quot;:28.5,&quot;top&quot;:109,&quot;width&quot;:659.9648031496063}"/>
</p:tagLst>
</file>

<file path=ppt/tags/tag46.xml><?xml version="1.0" encoding="utf-8"?>
<p:tagLst xmlns:p="http://schemas.openxmlformats.org/presentationml/2006/main">
  <p:tag name="KSO_WM_DIAGRAM_VIRTUALLY_FRAME" val="{&quot;height&quot;:228.5,&quot;left&quot;:28.5,&quot;top&quot;:109,&quot;width&quot;:659.9648031496063}"/>
</p:tagLst>
</file>

<file path=ppt/tags/tag47.xml><?xml version="1.0" encoding="utf-8"?>
<p:tagLst xmlns:p="http://schemas.openxmlformats.org/presentationml/2006/main">
  <p:tag name="KSO_WM_DIAGRAM_VIRTUALLY_FRAME" val="{&quot;height&quot;:228.5,&quot;left&quot;:28.5,&quot;top&quot;:109,&quot;width&quot;:659.9648031496063}"/>
</p:tagLst>
</file>

<file path=ppt/tags/tag48.xml><?xml version="1.0" encoding="utf-8"?>
<p:tagLst xmlns:p="http://schemas.openxmlformats.org/presentationml/2006/main">
  <p:tag name="KSO_WM_DIAGRAM_VIRTUALLY_FRAME" val="{&quot;height&quot;:228.5,&quot;left&quot;:28.5,&quot;top&quot;:109,&quot;width&quot;:659.9648031496063}"/>
</p:tagLst>
</file>

<file path=ppt/tags/tag49.xml><?xml version="1.0" encoding="utf-8"?>
<p:tagLst xmlns:p="http://schemas.openxmlformats.org/presentationml/2006/main">
  <p:tag name="KSO_WM_DIAGRAM_VIRTUALLY_FRAME" val="{&quot;height&quot;:228.5,&quot;left&quot;:28.5,&quot;top&quot;:109,&quot;width&quot;:659.9648031496063}"/>
</p:tagLst>
</file>

<file path=ppt/tags/tag50.xml><?xml version="1.0" encoding="utf-8"?>
<p:tagLst xmlns:p="http://schemas.openxmlformats.org/presentationml/2006/main">
  <p:tag name="KSO_WM_DIAGRAM_VIRTUALLY_FRAME" val="{&quot;height&quot;:228.5,&quot;left&quot;:28.5,&quot;top&quot;:109,&quot;width&quot;:659.9648031496063}"/>
</p:tagLst>
</file>

<file path=ppt/tags/tag51.xml><?xml version="1.0" encoding="utf-8"?>
<p:tagLst xmlns:p="http://schemas.openxmlformats.org/presentationml/2006/main">
  <p:tag name="KSO_WM_DIAGRAM_VIRTUALLY_FRAME" val="{&quot;height&quot;:228.5,&quot;left&quot;:28.5,&quot;top&quot;:109,&quot;width&quot;:659.9648031496063}"/>
</p:tagLst>
</file>

<file path=ppt/tags/tag52.xml><?xml version="1.0" encoding="utf-8"?>
<p:tagLst xmlns:p="http://schemas.openxmlformats.org/presentationml/2006/main">
  <p:tag name="KSO_WM_DIAGRAM_VIRTUALLY_FRAME" val="{&quot;height&quot;:228.5,&quot;left&quot;:28.5,&quot;top&quot;:109,&quot;width&quot;:659.9648031496063}"/>
</p:tagLst>
</file>

<file path=ppt/tags/tag53.xml><?xml version="1.0" encoding="utf-8"?>
<p:tagLst xmlns:p="http://schemas.openxmlformats.org/presentationml/2006/main">
  <p:tag name="KSO_WM_DIAGRAM_VIRTUALLY_FRAME" val="{&quot;height&quot;:228.5,&quot;left&quot;:28.5,&quot;top&quot;:109,&quot;width&quot;:659.9648031496063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1529</Words>
  <Application>WPS 演示</Application>
  <PresentationFormat>On-screen Show (16:9)</PresentationFormat>
  <Paragraphs>149</Paragraphs>
  <Slides>25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25</vt:i4>
      </vt:variant>
    </vt:vector>
  </HeadingPairs>
  <TitlesOfParts>
    <vt:vector size="35" baseType="lpstr">
      <vt:lpstr>Arial</vt:lpstr>
      <vt:lpstr>宋体</vt:lpstr>
      <vt:lpstr>Wingdings</vt:lpstr>
      <vt:lpstr>微软雅黑</vt:lpstr>
      <vt:lpstr>微软雅黑</vt:lpstr>
      <vt:lpstr>Arial Unicode MS</vt:lpstr>
      <vt:lpstr>Calibri</vt:lpstr>
      <vt:lpstr>等线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我在贩卖日落。</cp:lastModifiedBy>
  <cp:revision>7</cp:revision>
  <dcterms:created xsi:type="dcterms:W3CDTF">2025-06-17T14:19:00Z</dcterms:created>
  <dcterms:modified xsi:type="dcterms:W3CDTF">2025-06-21T12:28:32Z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27C401C6ED374A729645D243E2684297_13</vt:lpwstr>
  </property>
  <property fmtid="{D5CDD505-2E9C-101B-9397-08002B2CF9AE}" pid="3" name="KSOProductBuildVer">
    <vt:lpwstr>2052-12.1.0.21171</vt:lpwstr>
  </property>
</Properties>
</file>